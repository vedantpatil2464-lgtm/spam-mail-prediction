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162" y="4563367"/>
            <a:ext cx="1971675" cy="11752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3462" y="1119187"/>
            <a:ext cx="263032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5F6368"/>
                </a:solidFill>
                <a:latin typeface="Open Sans"/>
              </a:rP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5592" y="1547812"/>
            <a:ext cx="6520815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sz="4125" b="1" i="0" u="none">
                <a:solidFill>
                  <a:srgbClr val="202124"/>
                </a:solidFill>
                <a:latin typeface="Open Sans"/>
              </a:rPr>
              <a:t>Spam Mail Prediction</a:t>
            </a:r>
            <a:r>
              <a:t>
</a:t>
            </a:r>
            <a:r>
              <a:rPr sz="4125" b="1" i="0" u="none">
                <a:solidFill>
                  <a:srgbClr val="202124"/>
                </a:solidFill>
                <a:latin typeface="Open Sans"/>
              </a:rPr>
              <a:t> using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0800" y="2995612"/>
            <a:ext cx="701040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5F6368"/>
                </a:solidFill>
                <a:latin typeface="Open Sans"/>
              </a:rPr>
              <a:t>Classifying emails as spam or ham from textual patterns,</a:t>
            </a:r>
            <a:r>
              <a:t>
</a:t>
            </a:r>
            <a:r>
              <a:rPr sz="2100" b="0" i="0" u="none">
                <a:solidFill>
                  <a:srgbClr val="5F6368"/>
                </a:solidFill>
                <a:latin typeface="Open Sans"/>
              </a:rPr>
              <a:t> with 96.6% test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10162" y="4858642"/>
            <a:ext cx="1971675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1" i="0" u="none">
                <a:solidFill>
                  <a:srgbClr val="202124"/>
                </a:solidFill>
                <a:latin typeface="Open Sans"/>
              </a:rPr>
              <a:t>Vedant Patil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0162" y="5151983"/>
            <a:ext cx="1971675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>
                <a:solidFill>
                  <a:srgbClr val="202124"/>
                </a:solidFill>
                <a:latin typeface="Open Sans"/>
              </a:rPr>
              <a:t>AI Advance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0162" y="5445323"/>
            <a:ext cx="1971675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>
                <a:solidFill>
                  <a:srgbClr val="202124"/>
                </a:solidFill>
                <a:latin typeface="Open Sans"/>
              </a:rPr>
              <a:t>Naviotech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102494"/>
            <a:ext cx="5038725" cy="32703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3600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4C81"/>
                </a:solidFill>
                <a:latin typeface="Open Sans"/>
              </a:rPr>
              <a:t>1.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19200"/>
            <a:ext cx="3429000" cy="28575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4750" y="6353175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AA0A6"/>
                </a:solidFill>
                <a:latin typeface="Open San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911994"/>
            <a:ext cx="5290661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4C81"/>
                </a:solidFill>
                <a:latin typeface="Open Sans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512069"/>
            <a:ext cx="5038725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Electronic mail is a cornerstone of digital communication, but it is heavily plagued by spam—bulk, unsolicited messages carrying cybersecurity risks and scams.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165252"/>
            <a:ext cx="5038725" cy="1828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Traditional rule-based filters (like blocking specific keywords) are easily bypassed by spammers. A Machine Learning model can analyse textual patterns instantly, offering a fast and highly adaptable filtering mechanism.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388244"/>
            <a:ext cx="463057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4C81"/>
                </a:solidFill>
                <a:latin typeface="Open San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2893069"/>
            <a:ext cx="4410075" cy="2194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Build a Machine Learning model that classifies an email as </a:t>
            </a:r>
            <a:r>
              <a:rPr sz="1800" b="1" i="0" u="none">
                <a:solidFill>
                  <a:srgbClr val="3C4043"/>
                </a:solidFill>
                <a:latin typeface="Open Sans"/>
              </a:rPr>
              <a:t>Malignant (Spam)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or </a:t>
            </a:r>
            <a:r>
              <a:rPr sz="1800" b="1" i="0" u="none">
                <a:solidFill>
                  <a:srgbClr val="3C4043"/>
                </a:solidFill>
                <a:latin typeface="Open Sans"/>
              </a:rPr>
              <a:t>Benign (Ham)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from raw text strings using Natural Language Processing (NLP), supporting faster, more consistent threat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76400"/>
            <a:ext cx="38100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687835"/>
            <a:ext cx="3810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699271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71070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5722143"/>
            <a:ext cx="38100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581025"/>
            <a:ext cx="499062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4C81"/>
                </a:solidFill>
                <a:latin typeface="Open Sans"/>
              </a:rPr>
              <a:t>2. GOALS &amp;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1525" y="1219200"/>
            <a:ext cx="4752975" cy="28575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34750" y="6353175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AA0A6"/>
                </a:solidFill>
                <a:latin typeface="Open Sa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3025" y="1628775"/>
            <a:ext cx="838104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02124"/>
                </a:solidFill>
                <a:latin typeface="Open Sans"/>
              </a:rPr>
              <a:t>Load and Explore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3025" y="2019300"/>
            <a:ext cx="798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C4043"/>
                </a:solidFill>
                <a:latin typeface="Open Sans"/>
              </a:rPr>
              <a:t>Import the standard 'mail_data.csv' text dataset and conduct exploratory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3025" y="2640210"/>
            <a:ext cx="89011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02124"/>
                </a:solidFill>
                <a:latin typeface="Open Sans"/>
              </a:rPr>
              <a:t>Preprocess and 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3025" y="3030735"/>
            <a:ext cx="8477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C4043"/>
                </a:solidFill>
                <a:latin typeface="Open Sans"/>
              </a:rPr>
              <a:t>Handle null values and apply label encoding to the target categories (Spam=0, Ham=1).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3025" y="3651646"/>
            <a:ext cx="852106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02124"/>
                </a:solidFill>
                <a:latin typeface="Open Sans"/>
              </a:rPr>
              <a:t>Extract Numerical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3025" y="4042171"/>
            <a:ext cx="81153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C4043"/>
                </a:solidFill>
                <a:latin typeface="Open Sans"/>
              </a:rPr>
              <a:t>Convert raw unstructured text into structured mathematical matrices using TF-IDF.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3025" y="4663082"/>
            <a:ext cx="833104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02124"/>
                </a:solidFill>
                <a:latin typeface="Open Sans"/>
              </a:rPr>
              <a:t>Train and Evaluate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3025" y="5053607"/>
            <a:ext cx="793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C4043"/>
                </a:solidFill>
                <a:latin typeface="Open Sans"/>
              </a:rPr>
              <a:t>Build a Logistic Regression classifier and test accuracy across train and test splits.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3025" y="5674518"/>
            <a:ext cx="830103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02124"/>
                </a:solidFill>
                <a:latin typeface="Open Sans"/>
              </a:rPr>
              <a:t>Build Predictive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3025" y="6065043"/>
            <a:ext cx="79057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C4043"/>
                </a:solidFill>
                <a:latin typeface="Open Sans"/>
              </a:rPr>
              <a:t>Construct a working pipeline to evaluate brand new, unseen patient/user emails.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728120"/>
            <a:ext cx="10648950" cy="201156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375445"/>
            <a:ext cx="3295650" cy="1876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175" y="2375445"/>
            <a:ext cx="3295650" cy="1876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825" y="2375445"/>
            <a:ext cx="3295650" cy="1876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581025"/>
            <a:ext cx="336042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4C81"/>
                </a:solidFill>
                <a:latin typeface="Open Sans"/>
              </a:rPr>
              <a:t>3. THE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1525" y="1219200"/>
            <a:ext cx="3200400" cy="28575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4750" y="6353175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AA0A6"/>
                </a:solidFill>
                <a:latin typeface="Open San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1628775"/>
            <a:ext cx="10648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 SemiBold"/>
              </a:rPr>
              <a:t>Benchmark Spam Mail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917" y="5013870"/>
            <a:ext cx="1052131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202124"/>
                </a:solidFill>
                <a:latin typeface="Open Sans"/>
              </a:rPr>
              <a:t>Class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5518695"/>
            <a:ext cx="100203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1" i="0" u="none">
                <a:solidFill>
                  <a:srgbClr val="0F4C81"/>
                </a:solidFill>
                <a:latin typeface="Open Sans"/>
              </a:rPr>
              <a:t>4,825 Ham   |   747 Spam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6149131"/>
            <a:ext cx="10020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C4043"/>
                </a:solidFill>
                <a:latin typeface="Open Sans"/>
              </a:rPr>
              <a:t>*This imbalanced distribution accurately reflects real-world email traffic.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2765970"/>
            <a:ext cx="28956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50"/>
              </a:lnSpc>
            </a:pPr>
            <a:r>
              <a:rPr sz="5250" b="1" i="0" u="none">
                <a:solidFill>
                  <a:srgbClr val="0F4C81"/>
                </a:solidFill>
                <a:latin typeface="Open Sans"/>
              </a:rPr>
              <a:t>5,572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575595"/>
            <a:ext cx="2895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5F6368"/>
                </a:solidFill>
                <a:latin typeface="Open Sans SemiBold"/>
              </a:rPr>
              <a:t>TOTAL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2765970"/>
            <a:ext cx="28956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50"/>
              </a:lnSpc>
            </a:pPr>
            <a:r>
              <a:rPr sz="5250" b="1" i="0" u="none">
                <a:solidFill>
                  <a:srgbClr val="0F4C81"/>
                </a:solidFill>
                <a:latin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575595"/>
            <a:ext cx="2895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5F6368"/>
                </a:solidFill>
                <a:latin typeface="Open Sans SemiBold"/>
              </a:rPr>
              <a:t>INPUT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850" y="2765970"/>
            <a:ext cx="28956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50"/>
              </a:lnSpc>
            </a:pPr>
            <a:r>
              <a:rPr sz="5250" b="1" i="0" u="none">
                <a:solidFill>
                  <a:srgbClr val="0F4C81"/>
                </a:solidFill>
                <a:latin typeface="Open San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4850" y="3575595"/>
            <a:ext cx="2895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5F6368"/>
                </a:solidFill>
                <a:latin typeface="Open Sans SemiBold"/>
              </a:rPr>
              <a:t>MISSING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851106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4C81"/>
                </a:solidFill>
                <a:latin typeface="Open Sans"/>
              </a:rPr>
              <a:t>4. METHODOLOGY: DATA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19200"/>
            <a:ext cx="8105775" cy="28575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34750" y="6353175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AA0A6"/>
                </a:solidFill>
                <a:latin typeface="Open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1630680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75" y="1628775"/>
            <a:ext cx="10363200" cy="37519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C4043"/>
                </a:solidFill>
                <a:latin typeface="Open Sans"/>
              </a:rPr>
              <a:t>1. Load Data: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Utilized pandas (pd.read_csv) to ingest the raw file into a structured DataFrame.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2291625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2289720"/>
            <a:ext cx="10363200" cy="740866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C4043"/>
                </a:solidFill>
                <a:latin typeface="Open Sans"/>
              </a:rPr>
              <a:t>2. Check Quality: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Verified dataset integrity by handling null values, replacing them with empty strings ('') to prevent algorithm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318242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316337"/>
            <a:ext cx="10363200" cy="36567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C4043"/>
                </a:solidFill>
                <a:latin typeface="Open Sans"/>
              </a:rPr>
              <a:t>3. Split Features/Target: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Isolated the raw message strings (X) from the descriptive categories (Y).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3969662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967757"/>
            <a:ext cx="10363200" cy="1097012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C4043"/>
                </a:solidFill>
                <a:latin typeface="Open Sans"/>
              </a:rPr>
              <a:t>4. Label Encoding: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Machine Learning requires numbers. Converted string labels to binary integers: </a:t>
            </a:r>
            <a:r>
              <a:t>
</a:t>
            </a:r>
            <a:r>
              <a:rPr sz="1800" b="1" i="0" u="none">
                <a:solidFill>
                  <a:srgbClr val="0F4C81"/>
                </a:solidFill>
                <a:latin typeface="Open Sans"/>
              </a:rPr>
              <a:t>Spam = 0   |   Ham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5352424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5350519"/>
            <a:ext cx="10363200" cy="1097012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C4043"/>
                </a:solidFill>
                <a:latin typeface="Open Sans"/>
              </a:rPr>
              <a:t>5. Train/Test Split: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Divided data to ensure unbiased evaluation: </a:t>
            </a:r>
            <a:r>
              <a:t>
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80% Training Data (4,457 records) </a:t>
            </a:r>
            <a:r>
              <a:t>
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20% Testing Data (1,115 records)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390" y="1964010"/>
            <a:ext cx="8519070" cy="124197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390" y="3586980"/>
            <a:ext cx="8519070" cy="12419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390" y="5198566"/>
            <a:ext cx="8519070" cy="115460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6390" y="8753028"/>
            <a:ext cx="8519070" cy="1241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581025"/>
            <a:ext cx="6390798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0F4C81"/>
                </a:solidFill>
                <a:latin typeface="Open Sans"/>
              </a:rPr>
              <a:t>5. THE MODEL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1525" y="1219200"/>
            <a:ext cx="6086475" cy="28575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4750" y="6353175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AA0A6"/>
                </a:solidFill>
                <a:latin typeface="Open San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1445940"/>
            <a:ext cx="10648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3C4043"/>
                </a:solidFill>
                <a:latin typeface="Open Sans"/>
              </a:rPr>
              <a:t>A lightweight, highly efficient machine learning pipeline built with </a:t>
            </a:r>
            <a:r>
              <a:rPr sz="1800" b="0" i="0" u="none" dirty="0" err="1">
                <a:solidFill>
                  <a:srgbClr val="3C4043"/>
                </a:solidFill>
                <a:latin typeface="Open Sans"/>
              </a:rPr>
              <a:t>Scikit</a:t>
            </a:r>
            <a:r>
              <a:rPr sz="1800" b="0" i="0" u="none" dirty="0">
                <a:solidFill>
                  <a:srgbClr val="3C4043"/>
                </a:solidFill>
                <a:latin typeface="Open Sans"/>
              </a:rPr>
              <a:t>-Learn.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750" y="3205980"/>
            <a:ext cx="190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 i="0" u="none" dirty="0">
                <a:solidFill>
                  <a:srgbClr val="5F6368"/>
                </a:solidFill>
                <a:latin typeface="Open Sans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750" y="4817566"/>
            <a:ext cx="190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 i="0" u="none" dirty="0">
                <a:solidFill>
                  <a:srgbClr val="5F6368"/>
                </a:solidFill>
                <a:latin typeface="Open San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750" y="8181528"/>
            <a:ext cx="1905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 i="0" u="none">
                <a:solidFill>
                  <a:srgbClr val="5F6368"/>
                </a:solidFill>
                <a:latin typeface="Open Sans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3465" y="2223045"/>
            <a:ext cx="810491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0F4C81"/>
                </a:solidFill>
                <a:latin typeface="Open Sans"/>
              </a:rPr>
              <a:t>1. Input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6440" y="2584995"/>
            <a:ext cx="771897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3C4043"/>
                </a:solidFill>
                <a:latin typeface="Open Sans"/>
              </a:rPr>
              <a:t>Raw text strings from email messages.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3465" y="3796530"/>
            <a:ext cx="810491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4C81"/>
                </a:solidFill>
                <a:latin typeface="Open Sans"/>
              </a:rPr>
              <a:t>2. TF-IDF Vectorizer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6440" y="4253730"/>
            <a:ext cx="771897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Transforms text into a numerical sparse matrix (extracting patterns).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3465" y="5402424"/>
            <a:ext cx="8104919" cy="265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0F4C81"/>
                </a:solidFill>
                <a:latin typeface="Open Sans"/>
              </a:rPr>
              <a:t>3. Logistic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9414" y="5915608"/>
            <a:ext cx="771897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3C4043"/>
                </a:solidFill>
                <a:latin typeface="Open Sans"/>
              </a:rPr>
              <a:t>Learns the linear decision boundary between classes (Fast &amp; Interpretable).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3465" y="8962578"/>
            <a:ext cx="8104919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4C81"/>
                </a:solidFill>
                <a:latin typeface="Open Sans"/>
              </a:rPr>
              <a:t>4. Output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6440" y="9419778"/>
            <a:ext cx="771897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Probability Score mapped to: Spam (0) or Ham (1).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28775"/>
            <a:ext cx="5038725" cy="50378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7050881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0F4C81"/>
                </a:solidFill>
                <a:latin typeface="Open Sans"/>
              </a:rPr>
              <a:t>6. FEATURE EXTRACTION (TF-IDF)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19200"/>
            <a:ext cx="6715125" cy="28575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4750" y="6353175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AA0A6"/>
                </a:solidFill>
                <a:latin typeface="Open San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628775"/>
            <a:ext cx="529066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4C81"/>
                </a:solidFill>
                <a:latin typeface="Open Sans"/>
              </a:rPr>
              <a:t>Why Vectorization?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057400"/>
            <a:ext cx="5038725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 dirty="0">
                <a:solidFill>
                  <a:srgbClr val="3C4043"/>
                </a:solidFill>
                <a:latin typeface="Open Sans"/>
              </a:rPr>
              <a:t>Machine learning models perform mathematical operations; they cannot read raw English text. We must convert words into meaningful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901082"/>
            <a:ext cx="529066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4C81"/>
                </a:solidFill>
                <a:latin typeface="Open Sans"/>
              </a:rPr>
              <a:t>TF-IDF Explained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329707"/>
            <a:ext cx="5038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C4043"/>
                </a:solidFill>
                <a:latin typeface="Open Sans"/>
              </a:rPr>
              <a:t>Term Frequency (TF):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Measures how often a word appears in a specific email.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5203924"/>
            <a:ext cx="5038725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C4043"/>
                </a:solidFill>
                <a:latin typeface="Open Sans"/>
              </a:rPr>
              <a:t>Inverse Document Frequency (IDF):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Penalizes universally common words (like 'the', 'is') and gives high weight to rare, highly predictive words (like 'urgent', 'winner').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4398" y="2657177"/>
            <a:ext cx="463057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4C81"/>
                </a:solidFill>
                <a:latin typeface="Open Sans"/>
              </a:rPr>
              <a:t>Parameters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4675" y="3211532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3209627"/>
            <a:ext cx="4124325" cy="37519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min_df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4675" y="3777228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3775323"/>
            <a:ext cx="4124325" cy="740866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stop_words = 'english' (removes uninformative grammar words)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4675" y="4708594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4706689"/>
            <a:ext cx="4124325" cy="740866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lowercase = True (ensures 'FREE' and 'free' are treated identically)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1525" y="581025"/>
            <a:ext cx="8731091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4C81"/>
                </a:solidFill>
                <a:latin typeface="Open Sans"/>
              </a:rPr>
              <a:t>8. PREDICTIVE SYSTEM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19200"/>
            <a:ext cx="8315325" cy="28575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1525" y="1628775"/>
            <a:ext cx="106489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A new, unseen email text is processed, vectorized via TF-IDF, and passed to the trained Logistic Regression model for an instant prediction.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317" y="6344816"/>
            <a:ext cx="1064895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3C4043"/>
                </a:solidFill>
                <a:latin typeface="Open Sans SemiBold"/>
              </a:rPr>
              <a:t>This confirms the trained model can serve as a real, working diagnostic aid.</a:t>
            </a:r>
          </a:p>
        </p:txBody>
      </p:sp>
      <p:pic>
        <p:nvPicPr>
          <p:cNvPr id="16" name="Picture 15" descr="Screenshot 2026-08-07 184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360116"/>
            <a:ext cx="10453202" cy="38354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6230778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4C81"/>
                </a:solidFill>
                <a:latin typeface="Open Sans"/>
              </a:rPr>
              <a:t>9. SUMMARY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19200"/>
            <a:ext cx="5934075" cy="28575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49025" y="6353175"/>
            <a:ext cx="1714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AA0A6"/>
                </a:solidFill>
                <a:latin typeface="Open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1777722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75" y="1775817"/>
            <a:ext cx="10363200" cy="36567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A Logistic Regression model was successfully trained on </a:t>
            </a:r>
            <a:r>
              <a:rPr sz="1800" b="1" i="0" u="none">
                <a:solidFill>
                  <a:srgbClr val="3C4043"/>
                </a:solidFill>
                <a:latin typeface="Open Sans"/>
              </a:rPr>
              <a:t>5,572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real-world text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2429142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2427237"/>
            <a:ext cx="10363200" cy="36567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Achieved </a:t>
            </a:r>
            <a:r>
              <a:rPr sz="1800" b="1" i="0" u="none">
                <a:solidFill>
                  <a:srgbClr val="3C4043"/>
                </a:solidFill>
                <a:latin typeface="Open Sans"/>
              </a:rPr>
              <a:t>96.6% accuracy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on unseen test data, proving high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080563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078658"/>
            <a:ext cx="10363200" cy="73134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The model demonstrated excellent generalization, with training and test accuracy tracking almost identically (minimal overfitting).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4097655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095750"/>
            <a:ext cx="10363200" cy="73134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Achieved </a:t>
            </a:r>
            <a:r>
              <a:rPr sz="1800" b="1" i="0" u="none">
                <a:solidFill>
                  <a:srgbClr val="3C4043"/>
                </a:solidFill>
                <a:latin typeface="Open Sans"/>
              </a:rPr>
              <a:t>Zero False Positives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(no legitimate emails marked as spam), making it highly viable for enterprise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5114746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5112841"/>
            <a:ext cx="10363200" cy="73134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C4043"/>
                </a:solidFill>
                <a:latin typeface="Open Sans"/>
              </a:rPr>
              <a:t>A working predictive system was built and validated, successfully classifying new text inputs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28775"/>
            <a:ext cx="10648950" cy="38778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394049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4C81"/>
                </a:solidFill>
                <a:latin typeface="Open Sans"/>
              </a:rPr>
              <a:t>10.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19200"/>
            <a:ext cx="3752850" cy="28575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9025" y="6353175"/>
            <a:ext cx="1714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AA0A6"/>
                </a:solidFill>
                <a:latin typeface="Open San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301" y="6058495"/>
            <a:ext cx="11181397" cy="589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sz="4125" b="1" i="0" u="none" dirty="0">
                <a:solidFill>
                  <a:srgbClr val="0F4C81"/>
                </a:solidFill>
                <a:latin typeface="Open Sans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771525" y="5887640"/>
            <a:ext cx="106489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1550" y="1630680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1628775"/>
            <a:ext cx="10363200" cy="73134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C4043"/>
                </a:solidFill>
                <a:latin typeface="Open Sans"/>
              </a:rPr>
              <a:t>Hyperparameter Tuning: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Experiment with different n-gram ranges in TF-IDF to capture two-word phrases (e.g., "free money").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2600146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2598241"/>
            <a:ext cx="10363200" cy="73134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C4043"/>
                </a:solidFill>
                <a:latin typeface="Open Sans"/>
              </a:rPr>
              <a:t>Model Comparison: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Benchmark against Naive Bayes, Support Vector Machines (SVM), and Random Forests.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569612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567707"/>
            <a:ext cx="10363200" cy="73134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C4043"/>
                </a:solidFill>
                <a:latin typeface="Open Sans"/>
              </a:rPr>
              <a:t>Deep Learning: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Apply RNNs or LSTMs with Word2Vec to capture the semantic context of sentences, potentially catching the remaining 37 missed spam emails.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4539079"/>
            <a:ext cx="85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C4043"/>
                </a:solidFill>
                <a:latin typeface="Open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4537174"/>
            <a:ext cx="10363200" cy="73134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C4043"/>
                </a:solidFill>
                <a:latin typeface="Open Sans"/>
              </a:rPr>
              <a:t>Web Deployment:</a:t>
            </a:r>
            <a:r>
              <a:rPr sz="1800" b="0" i="0" u="none">
                <a:solidFill>
                  <a:srgbClr val="3C4043"/>
                </a:solidFill>
                <a:latin typeface="Open Sans"/>
              </a:rPr>
              <a:t> Deploy as a web application (using Flask or Streamlit) for real-time clinical or enterprise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782</Words>
  <Application>Microsoft Office PowerPoint</Application>
  <PresentationFormat>Custom</PresentationFormat>
  <Paragraphs>103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tushar pawar</cp:lastModifiedBy>
  <cp:revision>4</cp:revision>
  <dcterms:created xsi:type="dcterms:W3CDTF">2013-01-27T09:14:16Z</dcterms:created>
  <dcterms:modified xsi:type="dcterms:W3CDTF">2026-08-07T13:33:55Z</dcterms:modified>
  <cp:category/>
</cp:coreProperties>
</file>