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-691" y="-9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pPr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xmlns="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0162" y="4563367"/>
            <a:ext cx="1971675" cy="117529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43462" y="1119187"/>
            <a:ext cx="2630328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5F6368"/>
                </a:solidFill>
                <a:latin typeface="Open Sans"/>
              </a:rPr>
              <a:t>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35592" y="1547812"/>
            <a:ext cx="6520815" cy="12573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sz="4125" b="1" i="0" u="none">
                <a:solidFill>
                  <a:srgbClr val="202124"/>
                </a:solidFill>
                <a:latin typeface="Open Sans"/>
              </a:rPr>
              <a:t>Spam Mail Prediction</a:t>
            </a:r>
            <a:r>
              <a:t>
</a:t>
            </a:r>
            <a:r>
              <a:rPr sz="4125" b="1" i="0" u="none">
                <a:solidFill>
                  <a:srgbClr val="202124"/>
                </a:solidFill>
                <a:latin typeface="Open Sans"/>
              </a:rPr>
              <a:t> using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90800" y="2995612"/>
            <a:ext cx="7010400" cy="8533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sz="2100" b="0" i="0" u="none">
                <a:solidFill>
                  <a:srgbClr val="5F6368"/>
                </a:solidFill>
                <a:latin typeface="Open Sans"/>
              </a:rPr>
              <a:t>Classifying emails as spam or ham from textual patterns,</a:t>
            </a:r>
            <a:r>
              <a:t>
</a:t>
            </a:r>
            <a:r>
              <a:rPr sz="2100" b="0" i="0" u="none">
                <a:solidFill>
                  <a:srgbClr val="5F6368"/>
                </a:solidFill>
                <a:latin typeface="Open Sans"/>
              </a:rPr>
              <a:t> with 96.6% test 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10162" y="4858642"/>
            <a:ext cx="1971675" cy="293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10"/>
              </a:lnSpc>
            </a:pPr>
            <a:r>
              <a:rPr sz="1650" b="1" i="0" u="none">
                <a:solidFill>
                  <a:srgbClr val="202124"/>
                </a:solidFill>
                <a:latin typeface="Open Sans"/>
              </a:rPr>
              <a:t>Vedant Patil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10162" y="5151983"/>
            <a:ext cx="1971675" cy="293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10"/>
              </a:lnSpc>
            </a:pPr>
            <a:r>
              <a:rPr sz="1650" b="0" i="0" u="none">
                <a:solidFill>
                  <a:srgbClr val="202124"/>
                </a:solidFill>
                <a:latin typeface="Open Sans"/>
              </a:rPr>
              <a:t>AI Advance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10162" y="5445323"/>
            <a:ext cx="1971675" cy="293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310"/>
              </a:lnSpc>
            </a:pPr>
            <a:r>
              <a:rPr sz="1650" b="0" i="0" u="none">
                <a:solidFill>
                  <a:srgbClr val="202124"/>
                </a:solidFill>
                <a:latin typeface="Open Sans"/>
              </a:rPr>
              <a:t>Naviotech Solutions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2102494"/>
            <a:ext cx="5038725" cy="327034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36004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1.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19200"/>
            <a:ext cx="3429000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911994"/>
            <a:ext cx="5290661" cy="409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0F4C81"/>
                </a:solidFill>
                <a:latin typeface="Open Sans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512069"/>
            <a:ext cx="5038725" cy="1462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Electronic mail is a cornerstone of digital communication, but it is heavily plagued by spam—bulk, unsolicited messages carrying cybersecurity risks and scams.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4165252"/>
            <a:ext cx="5038725" cy="18283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Traditional rule-based filters (like blocking specific keywords) are easily bypassed by spammers. A Machine Learning model can analyse textual patterns instantly, offering a fast and highly adaptable filtering mechanism.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4650" y="2388244"/>
            <a:ext cx="4630578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4C81"/>
                </a:solidFill>
                <a:latin typeface="Open Sans"/>
              </a:rP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4650" y="2893069"/>
            <a:ext cx="4410075" cy="2194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Build a Machine Learning model that classifies an email as </a:t>
            </a:r>
            <a:r>
              <a:rPr sz="1800" b="1" i="0" u="none">
                <a:solidFill>
                  <a:srgbClr val="3C4043"/>
                </a:solidFill>
                <a:latin typeface="Open Sans"/>
              </a:rPr>
              <a:t>Malignant (Spam)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or </a:t>
            </a:r>
            <a:r>
              <a:rPr sz="1800" b="1" i="0" u="none">
                <a:solidFill>
                  <a:srgbClr val="3C4043"/>
                </a:solidFill>
                <a:latin typeface="Open Sans"/>
              </a:rPr>
              <a:t>Benign (Ham)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from raw text strings using Natural Language Processing (NLP), supporting faster, more consistent threat detection.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76400"/>
            <a:ext cx="381000" cy="381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2687835"/>
            <a:ext cx="381000" cy="381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525" y="3699271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525" y="4710707"/>
            <a:ext cx="38100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1525" y="5722143"/>
            <a:ext cx="381000" cy="381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1525" y="581025"/>
            <a:ext cx="4990623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2. GOALS &amp; OBJECTIVES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1525" y="1219200"/>
            <a:ext cx="4752975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3025" y="1628775"/>
            <a:ext cx="838104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202124"/>
                </a:solidFill>
                <a:latin typeface="Open Sans"/>
              </a:rPr>
              <a:t>Load and Explore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3025" y="2019300"/>
            <a:ext cx="79819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C4043"/>
                </a:solidFill>
                <a:latin typeface="Open Sans"/>
              </a:rPr>
              <a:t>Import the standard 'mail_data.csv' text dataset and conduct exploratory analysis.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3025" y="2640210"/>
            <a:ext cx="8901112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202124"/>
                </a:solidFill>
                <a:latin typeface="Open Sans"/>
              </a:rPr>
              <a:t>Preprocess and Clean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43025" y="3030735"/>
            <a:ext cx="84772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C4043"/>
                </a:solidFill>
                <a:latin typeface="Open Sans"/>
              </a:rPr>
              <a:t>Handle null values and apply label encoding to the target categories (Spam=0, Ham=1).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3025" y="3651646"/>
            <a:ext cx="8521065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202124"/>
                </a:solidFill>
                <a:latin typeface="Open Sans"/>
              </a:rPr>
              <a:t>Extract Numerical Features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3025" y="4042171"/>
            <a:ext cx="811530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C4043"/>
                </a:solidFill>
                <a:latin typeface="Open Sans"/>
              </a:rPr>
              <a:t>Convert raw unstructured text into structured mathematical matrices using TF-IDF.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3025" y="4663082"/>
            <a:ext cx="8331041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202124"/>
                </a:solidFill>
                <a:latin typeface="Open Sans"/>
              </a:rPr>
              <a:t>Train and Evaluate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43025" y="5053607"/>
            <a:ext cx="7934325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C4043"/>
                </a:solidFill>
                <a:latin typeface="Open Sans"/>
              </a:rPr>
              <a:t>Build a Logistic Regression classifier and test accuracy across train and test splits.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3025" y="5674518"/>
            <a:ext cx="8301037" cy="3429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50" b="1" i="0" u="none">
                <a:solidFill>
                  <a:srgbClr val="202124"/>
                </a:solidFill>
                <a:latin typeface="Open Sans"/>
              </a:rPr>
              <a:t>Build Predictive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3025" y="6065043"/>
            <a:ext cx="7905750" cy="335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640"/>
              </a:lnSpc>
            </a:pPr>
            <a:r>
              <a:rPr sz="1650" b="0" i="0" u="none">
                <a:solidFill>
                  <a:srgbClr val="3C4043"/>
                </a:solidFill>
                <a:latin typeface="Open Sans"/>
              </a:rPr>
              <a:t>Construct a working pipeline to evaluate brand new, unseen patient/user emails.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4728120"/>
            <a:ext cx="10648950" cy="201156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25" y="2375445"/>
            <a:ext cx="3295650" cy="18764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175" y="2375445"/>
            <a:ext cx="3295650" cy="18764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825" y="2375445"/>
            <a:ext cx="3295650" cy="18764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1525" y="581025"/>
            <a:ext cx="336042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3. THE DATASET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525" y="1219200"/>
            <a:ext cx="3200400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1628775"/>
            <a:ext cx="10648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 SemiBold"/>
              </a:rPr>
              <a:t>Benchmark Spam Mail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917" y="5013870"/>
            <a:ext cx="1052131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202124"/>
                </a:solidFill>
                <a:latin typeface="Open Sans"/>
              </a:rPr>
              <a:t>Class Distribution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4425" y="5518695"/>
            <a:ext cx="1002030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sz="2400" b="1" i="0" u="none">
                <a:solidFill>
                  <a:srgbClr val="0F4C81"/>
                </a:solidFill>
                <a:latin typeface="Open Sans"/>
              </a:rPr>
              <a:t>4,825 Ham   |   747 Spam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425" y="6149131"/>
            <a:ext cx="10020300" cy="304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00"/>
              </a:lnSpc>
            </a:pPr>
            <a:r>
              <a:rPr sz="1500" b="0" i="0" u="none">
                <a:solidFill>
                  <a:srgbClr val="3C4043"/>
                </a:solidFill>
                <a:latin typeface="Open Sans"/>
              </a:rPr>
              <a:t>*This imbalanced distribution accurately reflects real-world email traffic.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2765970"/>
            <a:ext cx="28956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250"/>
              </a:lnSpc>
            </a:pPr>
            <a:r>
              <a:rPr sz="5250" b="1" i="0" u="none">
                <a:solidFill>
                  <a:srgbClr val="0F4C81"/>
                </a:solidFill>
                <a:latin typeface="Open Sans"/>
              </a:rPr>
              <a:t>5,572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575595"/>
            <a:ext cx="28956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5F6368"/>
                </a:solidFill>
                <a:latin typeface="Open Sans SemiBold"/>
              </a:rPr>
              <a:t>TOTAL RECORDS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8200" y="2765970"/>
            <a:ext cx="28956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250"/>
              </a:lnSpc>
            </a:pPr>
            <a:r>
              <a:rPr sz="5250" b="1" i="0" u="none">
                <a:solidFill>
                  <a:srgbClr val="0F4C81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575595"/>
            <a:ext cx="28956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5F6368"/>
                </a:solidFill>
                <a:latin typeface="Open Sans SemiBold"/>
              </a:rPr>
              <a:t>INPUT 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850" y="2765970"/>
            <a:ext cx="2895600" cy="666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250"/>
              </a:lnSpc>
            </a:pPr>
            <a:r>
              <a:rPr sz="5250" b="1" i="0" u="none">
                <a:solidFill>
                  <a:srgbClr val="0F4C81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4850" y="3575595"/>
            <a:ext cx="2895600" cy="2857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50" b="0" i="0" u="none">
                <a:solidFill>
                  <a:srgbClr val="5F6368"/>
                </a:solidFill>
                <a:latin typeface="Open Sans SemiBold"/>
              </a:rPr>
              <a:t>MISSING VALUES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8511063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4. METHODOLOGY: DATA PREPARATION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19200"/>
            <a:ext cx="8105775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1630680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75" y="1628775"/>
            <a:ext cx="10363200" cy="37519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1. Load Data: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Utilized pandas (pd.read_csv) to ingest the raw file into a structured DataFrame.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291625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275" y="2289720"/>
            <a:ext cx="10363200" cy="740866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2. Check Quality: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Verified dataset integrity by handling null values, replacing them with empty strings ('') to prevent algorithm failure.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318242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75" y="3316337"/>
            <a:ext cx="10363200" cy="36567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3. Split Features/Target: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Isolated the raw message strings (X) from the descriptive categories (Y).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3969662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7275" y="3967757"/>
            <a:ext cx="10363200" cy="1097012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4. Label Encoding: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Machine Learning requires numbers. Converted string labels to binary integers: </a:t>
            </a:r>
            <a:r>
              <a:t>
</a:t>
            </a:r>
            <a:r>
              <a:rPr sz="1800" b="1" i="0" u="none">
                <a:solidFill>
                  <a:srgbClr val="0F4C81"/>
                </a:solidFill>
                <a:latin typeface="Open Sans"/>
              </a:rPr>
              <a:t>Spam = 0   |   Ham =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5352424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75" y="5350519"/>
            <a:ext cx="10363200" cy="1097012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5. Train/Test Split: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Divided data to ensure unbiased evaluation: </a:t>
            </a:r>
            <a:r>
              <a:t>
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80% Training Data (4,457 records) </a:t>
            </a:r>
            <a:r>
              <a:t>
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20% Testing Data (1,115 records)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6390" y="1964010"/>
            <a:ext cx="8519070" cy="124197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390" y="3586980"/>
            <a:ext cx="8519070" cy="124197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6390" y="5198566"/>
            <a:ext cx="8519070" cy="1154609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36390" y="8753028"/>
            <a:ext cx="8519070" cy="12419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1525" y="581025"/>
            <a:ext cx="6390798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F4C81"/>
                </a:solidFill>
                <a:latin typeface="Open Sans"/>
              </a:rPr>
              <a:t>5. THE MODEL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525" y="1219200"/>
            <a:ext cx="6086475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1445940"/>
            <a:ext cx="106489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 dirty="0">
                <a:solidFill>
                  <a:srgbClr val="3C4043"/>
                </a:solidFill>
                <a:latin typeface="Open Sans"/>
              </a:rPr>
              <a:t>A lightweight, highly efficient machine learning pipeline built with </a:t>
            </a:r>
            <a:r>
              <a:rPr sz="1800" b="0" i="0" u="none" dirty="0" err="1">
                <a:solidFill>
                  <a:srgbClr val="3C4043"/>
                </a:solidFill>
                <a:latin typeface="Open Sans"/>
              </a:rPr>
              <a:t>Scikit</a:t>
            </a:r>
            <a:r>
              <a:rPr sz="1800" b="0" i="0" u="none" dirty="0">
                <a:solidFill>
                  <a:srgbClr val="3C4043"/>
                </a:solidFill>
                <a:latin typeface="Open Sans"/>
              </a:rPr>
              <a:t>-Learn.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00750" y="3205980"/>
            <a:ext cx="1905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0" i="0" u="none" dirty="0">
                <a:solidFill>
                  <a:srgbClr val="5F6368"/>
                </a:solidFill>
                <a:latin typeface="Open Sans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0750" y="4817566"/>
            <a:ext cx="19050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0" i="0" u="none" dirty="0">
                <a:solidFill>
                  <a:srgbClr val="5F6368"/>
                </a:solidFill>
                <a:latin typeface="Open Sans"/>
              </a:rP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00750" y="8181528"/>
            <a:ext cx="19050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000"/>
              </a:lnSpc>
            </a:pPr>
            <a:r>
              <a:rPr sz="3000" b="0" i="0" u="none">
                <a:solidFill>
                  <a:srgbClr val="5F6368"/>
                </a:solidFill>
                <a:latin typeface="Open Sans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43465" y="2223045"/>
            <a:ext cx="8104919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>
                <a:solidFill>
                  <a:srgbClr val="0F4C81"/>
                </a:solidFill>
                <a:latin typeface="Open Sans"/>
              </a:rPr>
              <a:t>1. Input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6440" y="2584995"/>
            <a:ext cx="771897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 dirty="0">
                <a:solidFill>
                  <a:srgbClr val="3C4043"/>
                </a:solidFill>
                <a:latin typeface="Open Sans"/>
              </a:rPr>
              <a:t>Raw text strings from email messages.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3465" y="3796530"/>
            <a:ext cx="8104919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F4C81"/>
                </a:solidFill>
                <a:latin typeface="Open Sans"/>
              </a:rPr>
              <a:t>2. TF-IDF Vectorizer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6440" y="4253730"/>
            <a:ext cx="771897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Transforms text into a numerical sparse matrix (extracting patterns).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3465" y="5402424"/>
            <a:ext cx="8104919" cy="2650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 dirty="0">
                <a:solidFill>
                  <a:srgbClr val="0F4C81"/>
                </a:solidFill>
                <a:latin typeface="Open Sans"/>
              </a:rPr>
              <a:t>3. Logistic Regression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9414" y="5915608"/>
            <a:ext cx="771897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 dirty="0">
                <a:solidFill>
                  <a:srgbClr val="3C4043"/>
                </a:solidFill>
                <a:latin typeface="Open Sans"/>
              </a:rPr>
              <a:t>Learns the linear decision boundary between classes (Fast &amp; Interpretable).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43465" y="8962578"/>
            <a:ext cx="8104919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F4C81"/>
                </a:solidFill>
                <a:latin typeface="Open Sans"/>
              </a:rPr>
              <a:t>4. Output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6440" y="9419778"/>
            <a:ext cx="771897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Probability Score mapped to: Spam (0) or Ham (1).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1750" y="1628775"/>
            <a:ext cx="5038725" cy="503783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7050881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 dirty="0">
                <a:solidFill>
                  <a:srgbClr val="0F4C81"/>
                </a:solidFill>
                <a:latin typeface="Open Sans"/>
              </a:rPr>
              <a:t>6. FEATURE EXTRACTION (TF-IDF)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19200"/>
            <a:ext cx="6715125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1525" y="1628775"/>
            <a:ext cx="5290661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F4C81"/>
                </a:solidFill>
                <a:latin typeface="Open Sans"/>
              </a:rPr>
              <a:t>Why Vectorization?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2057400"/>
            <a:ext cx="5038725" cy="1462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 dirty="0">
                <a:solidFill>
                  <a:srgbClr val="3C4043"/>
                </a:solidFill>
                <a:latin typeface="Open Sans"/>
              </a:rPr>
              <a:t>Machine learning models perform mathematical operations; they cannot read raw English text. We must convert words into meaningful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3901082"/>
            <a:ext cx="5290661" cy="238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4" b="1" i="0" u="none">
                <a:solidFill>
                  <a:srgbClr val="0F4C81"/>
                </a:solidFill>
                <a:latin typeface="Open Sans"/>
              </a:rPr>
              <a:t>TF-IDF Explained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1525" y="4329707"/>
            <a:ext cx="5038725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Term Frequency (TF):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Measures how often a word appears in a specific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1525" y="5203924"/>
            <a:ext cx="5038725" cy="14626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Inverse Document Frequency (IDF):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Penalizes universally common words (like 'the', 'is') and gives high weight to rare, highly predictive words (like 'urgent', 'winner').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398" y="2657177"/>
            <a:ext cx="4630578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100" b="1" i="0" u="none">
                <a:solidFill>
                  <a:srgbClr val="0F4C81"/>
                </a:solidFill>
                <a:latin typeface="Open Sans"/>
              </a:rPr>
              <a:t>Parameters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4675" y="3211532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400" y="3209627"/>
            <a:ext cx="4124325" cy="375195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min_df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4675" y="3777228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775323"/>
            <a:ext cx="4124325" cy="740866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stop_words = 'english' (removes uninformative grammar words)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4675" y="4708594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4706689"/>
            <a:ext cx="4124325" cy="740866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lowercase = True (ensures 'FREE' and 'free' are treated identically)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360116"/>
            <a:ext cx="10648950" cy="439028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275" y="5697140"/>
            <a:ext cx="10077450" cy="114850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1525" y="581025"/>
            <a:ext cx="8731091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8. PREDICTIVE SYSTEM DEMONSTRATION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1525" y="1219200"/>
            <a:ext cx="8315325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334750" y="6353175"/>
            <a:ext cx="85725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1525" y="1628775"/>
            <a:ext cx="106489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A new, unseen email text is processed, vectorized via TF-IDF, and passed to the trained Logistic Regression model for an instant prediction.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1525" y="7417147"/>
            <a:ext cx="10648950" cy="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 SemiBold"/>
              </a:rPr>
              <a:t>This confirms the trained model can serve as a real, working diagnostic aid.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275" y="3026866"/>
            <a:ext cx="100774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monospace"/>
              </a:rPr>
              <a:t># Input from 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75" y="3392537"/>
            <a:ext cx="10077450" cy="7313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 dirty="0" err="1">
                <a:solidFill>
                  <a:srgbClr val="3C4043"/>
                </a:solidFill>
                <a:latin typeface="monospace"/>
              </a:rPr>
              <a:t>input_mail</a:t>
            </a:r>
            <a:r>
              <a:rPr sz="1800" b="0" i="0" u="none" dirty="0">
                <a:solidFill>
                  <a:srgbClr val="3C4043"/>
                </a:solidFill>
                <a:latin typeface="monospace"/>
              </a:rPr>
              <a:t> = ["I've been searching for the right words to thank you for this breather. I promise </a:t>
            </a:r>
            <a:r>
              <a:rPr sz="1800" b="0" i="0" u="none" dirty="0" err="1">
                <a:solidFill>
                  <a:srgbClr val="3C4043"/>
                </a:solidFill>
                <a:latin typeface="monospace"/>
              </a:rPr>
              <a:t>i</a:t>
            </a:r>
            <a:r>
              <a:rPr sz="1800" b="0" i="0" u="none" dirty="0">
                <a:solidFill>
                  <a:srgbClr val="3C4043"/>
                </a:solidFill>
                <a:latin typeface="monospace"/>
              </a:rPr>
              <a:t> wont take your help for granted..."]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275" y="4409628"/>
            <a:ext cx="100774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monospace"/>
              </a:rPr>
              <a:t># Standardize and Predict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7275" y="4775299"/>
            <a:ext cx="100774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monospace"/>
              </a:rPr>
              <a:t>input_data_features = feature_extraction.transform(input_mail)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75" y="5140969"/>
            <a:ext cx="100774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monospace"/>
              </a:rPr>
              <a:t>prediction = model.predict(input_data_features)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75" y="5897165"/>
            <a:ext cx="10077450" cy="3656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monospace"/>
              </a:rPr>
              <a:t>Model Output: [1]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7275" y="6358086"/>
            <a:ext cx="10077450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sz="2400" b="1" i="0" u="none">
                <a:solidFill>
                  <a:srgbClr val="FFFFFF"/>
                </a:solidFill>
                <a:latin typeface="monospace"/>
              </a:rPr>
              <a:t>FINAL PREDICTION: "Ham mail"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71525" y="581025"/>
            <a:ext cx="6230778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9. SUMMARY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1525" y="1219200"/>
            <a:ext cx="5934075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249025" y="6353175"/>
            <a:ext cx="1714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1550" y="1777722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7275" y="1775817"/>
            <a:ext cx="10363200" cy="36567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A Logistic Regression model was successfully trained on </a:t>
            </a:r>
            <a:r>
              <a:rPr sz="1800" b="1" i="0" u="none">
                <a:solidFill>
                  <a:srgbClr val="3C4043"/>
                </a:solidFill>
                <a:latin typeface="Open Sans"/>
              </a:rPr>
              <a:t>5,572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real-world text records.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1550" y="2429142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275" y="2427237"/>
            <a:ext cx="10363200" cy="365670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Achieved </a:t>
            </a:r>
            <a:r>
              <a:rPr sz="1800" b="1" i="0" u="none">
                <a:solidFill>
                  <a:srgbClr val="3C4043"/>
                </a:solidFill>
                <a:latin typeface="Open Sans"/>
              </a:rPr>
              <a:t>96.6% accuracy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on unseen test data, proving high reliability.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1550" y="3080563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7275" y="3078658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The model demonstrated excellent generalization, with training and test accuracy tracking almost identically (minimal overfitting).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" y="4097655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7275" y="4095750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Achieved </a:t>
            </a:r>
            <a:r>
              <a:rPr sz="1800" b="1" i="0" u="none">
                <a:solidFill>
                  <a:srgbClr val="3C4043"/>
                </a:solidFill>
                <a:latin typeface="Open Sans"/>
              </a:rPr>
              <a:t>Zero False Positives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(no legitimate emails marked as spam), making it highly viable for enterprise deployment.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1550" y="5114746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75" y="5112841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0" i="0" u="none">
                <a:solidFill>
                  <a:srgbClr val="3C4043"/>
                </a:solidFill>
                <a:latin typeface="Open Sans"/>
              </a:rPr>
              <a:t>A working predictive system was built and validated, successfully classifying new text inputs instantly.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25" y="1628775"/>
            <a:ext cx="10648950" cy="387786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1525" y="581025"/>
            <a:ext cx="3940492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150" b="1" i="0" u="none">
                <a:solidFill>
                  <a:srgbClr val="0F4C81"/>
                </a:solidFill>
                <a:latin typeface="Open Sans"/>
              </a:rPr>
              <a:t>10.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1525" y="1219200"/>
            <a:ext cx="3752850" cy="28575"/>
          </a:xfrm>
          <a:prstGeom prst="rect">
            <a:avLst/>
          </a:prstGeom>
          <a:solidFill>
            <a:srgbClr val="0F4C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249025" y="6353175"/>
            <a:ext cx="171450" cy="2095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AA0A6"/>
                </a:solidFill>
                <a:latin typeface="Open San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5301" y="6058495"/>
            <a:ext cx="11181397" cy="5893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4950"/>
              </a:lnSpc>
            </a:pPr>
            <a:r>
              <a:rPr sz="4125" b="1" i="0" u="none" dirty="0">
                <a:solidFill>
                  <a:srgbClr val="0F4C81"/>
                </a:solidFill>
                <a:latin typeface="Open Sans"/>
              </a:rPr>
              <a:t>Thank You</a:t>
            </a:r>
          </a:p>
        </p:txBody>
      </p:sp>
      <p:sp>
        <p:nvSpPr>
          <p:cNvPr id="7" name="Rectangle 6"/>
          <p:cNvSpPr/>
          <p:nvPr/>
        </p:nvSpPr>
        <p:spPr>
          <a:xfrm>
            <a:off x="771525" y="5887640"/>
            <a:ext cx="10648950" cy="952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1550" y="1630680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7275" y="1628775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Hyperparameter Tuning: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Experiment with different n-gram ranges in TF-IDF to capture two-word phrases (e.g., "free money").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600146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7275" y="2598241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Model Comparison: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Benchmark against Naive Bayes, Support Vector Machines (SVM), and Random Forests.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69612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75" y="3567707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Deep Learning: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Apply RNNs or LSTMs with Word2Vec to capture the semantic context of sentences, potentially catching the remaining 37 missed spam emails.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539079"/>
            <a:ext cx="85725" cy="3619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3C4043"/>
                </a:solidFill>
                <a:latin typeface="Open Sans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7275" y="4537174"/>
            <a:ext cx="10363200" cy="731341"/>
          </a:xfrm>
          <a:prstGeom prst="rect">
            <a:avLst/>
          </a:prstGeom>
          <a:noFill/>
        </p:spPr>
        <p:txBody>
          <a:bodyPr wrap="square" lIns="85725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1800" b="1" i="0" u="none">
                <a:solidFill>
                  <a:srgbClr val="3C4043"/>
                </a:solidFill>
                <a:latin typeface="Open Sans"/>
              </a:rPr>
              <a:t>Web Deployment:</a:t>
            </a:r>
            <a:r>
              <a:rPr sz="1800" b="0" i="0" u="none">
                <a:solidFill>
                  <a:srgbClr val="3C4043"/>
                </a:solidFill>
                <a:latin typeface="Open Sans"/>
              </a:rPr>
              <a:t> Deploy as a web application (using Flask or Streamlit) for real-time clinical or enterprise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839</Words>
  <Application>Microsoft Office PowerPoint</Application>
  <PresentationFormat>Custom</PresentationFormat>
  <Paragraphs>111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Manager/>
  <Company/>
  <LinksUpToDate>false</LinksUpToDate>
  <SharedDoc>false</SharedDoc>
  <HyperlinkBase/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/>
  <cp:keywords/>
  <dc:description>generated using python-pptx</dc:description>
  <cp:lastModifiedBy>tushar pawar</cp:lastModifiedBy>
  <cp:revision>3</cp:revision>
  <dcterms:created xsi:type="dcterms:W3CDTF">2013-01-27T09:14:16Z</dcterms:created>
  <dcterms:modified xsi:type="dcterms:W3CDTF">2026-08-07T12:38:03Z</dcterms:modified>
  <cp:category/>
</cp:coreProperties>
</file>